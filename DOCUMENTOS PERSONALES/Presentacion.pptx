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Tenor Sans" charset="1" panose="02000000000000000000"/>
      <p:regular r:id="rId14"/>
    </p:embeddedFont>
    <p:embeddedFont>
      <p:font typeface="Glacial Indifference Bold" charset="1" panose="00000800000000000000"/>
      <p:regular r:id="rId15"/>
    </p:embeddedFont>
    <p:embeddedFont>
      <p:font typeface="Glacial Indifference" charset="1" panose="00000000000000000000"/>
      <p:regular r:id="rId16"/>
    </p:embeddedFont>
    <p:embeddedFont>
      <p:font typeface="Open Sans Bold" charset="1" panose="020B0806030504020204"/>
      <p:regular r:id="rId17"/>
    </p:embeddedFont>
    <p:embeddedFont>
      <p:font typeface="Open Sans" charset="1" panose="020B0606030504020204"/>
      <p:regular r:id="rId18"/>
    </p:embeddedFont>
    <p:embeddedFont>
      <p:font typeface="Open Sans Italics" charset="1" panose="020B060603050402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362774" y="-30820"/>
            <a:ext cx="3688357" cy="4114800"/>
          </a:xfrm>
          <a:custGeom>
            <a:avLst/>
            <a:gdLst/>
            <a:ahLst/>
            <a:cxnLst/>
            <a:rect r="r" b="b" t="t" l="l"/>
            <a:pathLst>
              <a:path h="4114800" w="3688357">
                <a:moveTo>
                  <a:pt x="0" y="0"/>
                </a:moveTo>
                <a:lnTo>
                  <a:pt x="3688357" y="0"/>
                </a:lnTo>
                <a:lnTo>
                  <a:pt x="368835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289726" y="6393076"/>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888953" y="8464390"/>
            <a:ext cx="9402812" cy="588160"/>
          </a:xfrm>
          <a:prstGeom prst="rect">
            <a:avLst/>
          </a:prstGeom>
        </p:spPr>
        <p:txBody>
          <a:bodyPr anchor="t" rtlCol="false" tIns="0" lIns="0" bIns="0" rIns="0">
            <a:spAutoFit/>
          </a:bodyPr>
          <a:lstStyle/>
          <a:p>
            <a:pPr algn="ctr">
              <a:lnSpc>
                <a:spcPts val="4738"/>
              </a:lnSpc>
            </a:pPr>
            <a:r>
              <a:rPr lang="en-US" sz="3245" spc="334">
                <a:solidFill>
                  <a:srgbClr val="022033"/>
                </a:solidFill>
                <a:latin typeface="Tenor Sans"/>
              </a:rPr>
              <a:t>RICHARD WALTER MAMANI JIMENEZ</a:t>
            </a:r>
          </a:p>
        </p:txBody>
      </p:sp>
      <p:grpSp>
        <p:nvGrpSpPr>
          <p:cNvPr name="Group 5" id="5"/>
          <p:cNvGrpSpPr/>
          <p:nvPr/>
        </p:nvGrpSpPr>
        <p:grpSpPr>
          <a:xfrm rot="0">
            <a:off x="769581" y="8790865"/>
            <a:ext cx="971055" cy="934870"/>
            <a:chOff x="0" y="0"/>
            <a:chExt cx="255751" cy="246221"/>
          </a:xfrm>
        </p:grpSpPr>
        <p:sp>
          <p:nvSpPr>
            <p:cNvPr name="Freeform 6" id="6"/>
            <p:cNvSpPr/>
            <p:nvPr/>
          </p:nvSpPr>
          <p:spPr>
            <a:xfrm flipH="false" flipV="false" rot="0">
              <a:off x="0" y="0"/>
              <a:ext cx="255751" cy="246221"/>
            </a:xfrm>
            <a:custGeom>
              <a:avLst/>
              <a:gdLst/>
              <a:ahLst/>
              <a:cxnLst/>
              <a:rect r="r" b="b" t="t" l="l"/>
              <a:pathLst>
                <a:path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96B5D3"/>
            </a:solidFill>
          </p:spPr>
        </p:sp>
        <p:sp>
          <p:nvSpPr>
            <p:cNvPr name="TextBox 7" id="7"/>
            <p:cNvSpPr txBox="true"/>
            <p:nvPr/>
          </p:nvSpPr>
          <p:spPr>
            <a:xfrm>
              <a:off x="0" y="-38100"/>
              <a:ext cx="255751" cy="284321"/>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2909119" y="7570104"/>
            <a:ext cx="4681240" cy="588160"/>
          </a:xfrm>
          <a:prstGeom prst="rect">
            <a:avLst/>
          </a:prstGeom>
        </p:spPr>
        <p:txBody>
          <a:bodyPr anchor="t" rtlCol="false" tIns="0" lIns="0" bIns="0" rIns="0">
            <a:spAutoFit/>
          </a:bodyPr>
          <a:lstStyle/>
          <a:p>
            <a:pPr algn="ctr">
              <a:lnSpc>
                <a:spcPts val="4738"/>
              </a:lnSpc>
            </a:pPr>
            <a:r>
              <a:rPr lang="en-US" sz="3245" spc="334">
                <a:solidFill>
                  <a:srgbClr val="022033"/>
                </a:solidFill>
                <a:latin typeface="Tenor Sans"/>
              </a:rPr>
              <a:t>PRESENTADO POR:</a:t>
            </a:r>
          </a:p>
        </p:txBody>
      </p:sp>
      <p:sp>
        <p:nvSpPr>
          <p:cNvPr name="TextBox 9" id="9"/>
          <p:cNvSpPr txBox="true"/>
          <p:nvPr/>
        </p:nvSpPr>
        <p:spPr>
          <a:xfrm rot="0">
            <a:off x="2793110" y="1157738"/>
            <a:ext cx="14466190" cy="7894812"/>
          </a:xfrm>
          <a:prstGeom prst="rect">
            <a:avLst/>
          </a:prstGeom>
        </p:spPr>
        <p:txBody>
          <a:bodyPr anchor="t" rtlCol="false" tIns="0" lIns="0" bIns="0" rIns="0">
            <a:spAutoFit/>
          </a:bodyPr>
          <a:lstStyle/>
          <a:p>
            <a:pPr algn="just">
              <a:lnSpc>
                <a:spcPts val="7629"/>
              </a:lnSpc>
            </a:pPr>
            <a:r>
              <a:rPr lang="en-US" sz="6999" spc="-83">
                <a:solidFill>
                  <a:srgbClr val="022033"/>
                </a:solidFill>
                <a:latin typeface="Glacial Indifference Bold"/>
              </a:rPr>
              <a:t>IMPACTO DE UNA INTERFAZ DE PROGRAMACIÓN DE APLICACIONES (API) OMNICANAL EN LA EFICIENCIA </a:t>
            </a:r>
            <a:r>
              <a:rPr lang="en-US" sz="6999" spc="-83">
                <a:solidFill>
                  <a:srgbClr val="022033"/>
                </a:solidFill>
                <a:latin typeface="Glacial Indifference Bold"/>
              </a:rPr>
              <a:t>del proceso de transferencias interbancarias  inmediatas en Caja Tacna, 2024 </a:t>
            </a:r>
          </a:p>
          <a:p>
            <a:pPr algn="just">
              <a:lnSpc>
                <a:spcPts val="14646"/>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72082" y="1668590"/>
            <a:ext cx="3094694" cy="6189387"/>
            <a:chOff x="0" y="0"/>
            <a:chExt cx="3175000" cy="6350000"/>
          </a:xfrm>
        </p:grpSpPr>
        <p:sp>
          <p:nvSpPr>
            <p:cNvPr name="Freeform 3" id="3"/>
            <p:cNvSpPr/>
            <p:nvPr/>
          </p:nvSpPr>
          <p:spPr>
            <a:xfrm flipH="false" flipV="false" rot="0">
              <a:off x="0" y="0"/>
              <a:ext cx="3175000" cy="6350000"/>
            </a:xfrm>
            <a:custGeom>
              <a:avLst/>
              <a:gdLst/>
              <a:ahLst/>
              <a:cxnLst/>
              <a:rect r="r" b="b" t="t" l="l"/>
              <a:pathLst>
                <a:path h="6350000" w="3175000">
                  <a:moveTo>
                    <a:pt x="3175000" y="0"/>
                  </a:moveTo>
                  <a:lnTo>
                    <a:pt x="3175000" y="6350000"/>
                  </a:lnTo>
                  <a:cubicBezTo>
                    <a:pt x="1421498" y="6350000"/>
                    <a:pt x="0" y="4928502"/>
                    <a:pt x="0" y="3175000"/>
                  </a:cubicBezTo>
                  <a:cubicBezTo>
                    <a:pt x="0" y="1421498"/>
                    <a:pt x="1421498" y="0"/>
                    <a:pt x="3175000" y="0"/>
                  </a:cubicBezTo>
                  <a:close/>
                </a:path>
              </a:pathLst>
            </a:custGeom>
            <a:blipFill>
              <a:blip r:embed="rId2"/>
              <a:stretch>
                <a:fillRect l="-54387" t="0" r="-45612" b="0"/>
              </a:stretch>
            </a:blipFill>
          </p:spPr>
        </p:sp>
      </p:grpSp>
      <p:grpSp>
        <p:nvGrpSpPr>
          <p:cNvPr name="Group 4" id="4"/>
          <p:cNvGrpSpPr/>
          <p:nvPr/>
        </p:nvGrpSpPr>
        <p:grpSpPr>
          <a:xfrm rot="0">
            <a:off x="16098759" y="604794"/>
            <a:ext cx="4378481" cy="437848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6397054" y="6923107"/>
            <a:ext cx="971055" cy="934870"/>
            <a:chOff x="0" y="0"/>
            <a:chExt cx="255751" cy="246221"/>
          </a:xfrm>
        </p:grpSpPr>
        <p:sp>
          <p:nvSpPr>
            <p:cNvPr name="Freeform 8" id="8"/>
            <p:cNvSpPr/>
            <p:nvPr/>
          </p:nvSpPr>
          <p:spPr>
            <a:xfrm flipH="false" flipV="false" rot="0">
              <a:off x="0" y="0"/>
              <a:ext cx="255751" cy="246221"/>
            </a:xfrm>
            <a:custGeom>
              <a:avLst/>
              <a:gdLst/>
              <a:ahLst/>
              <a:cxnLst/>
              <a:rect r="r" b="b" t="t" l="l"/>
              <a:pathLst>
                <a:path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p:spPr>
        </p:sp>
        <p:sp>
          <p:nvSpPr>
            <p:cNvPr name="TextBox 9" id="9"/>
            <p:cNvSpPr txBox="true"/>
            <p:nvPr/>
          </p:nvSpPr>
          <p:spPr>
            <a:xfrm>
              <a:off x="0" y="-38100"/>
              <a:ext cx="255751" cy="284321"/>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3232996" y="5650082"/>
            <a:ext cx="11822008" cy="2207895"/>
          </a:xfrm>
          <a:prstGeom prst="rect">
            <a:avLst/>
          </a:prstGeom>
        </p:spPr>
        <p:txBody>
          <a:bodyPr anchor="t" rtlCol="false" tIns="0" lIns="0" bIns="0" rIns="0">
            <a:spAutoFit/>
          </a:bodyPr>
          <a:lstStyle/>
          <a:p>
            <a:pPr algn="just" marL="906780" indent="-453390" lvl="1">
              <a:lnSpc>
                <a:spcPts val="5880"/>
              </a:lnSpc>
              <a:buFont typeface="Arial"/>
              <a:buChar char="•"/>
            </a:pPr>
            <a:r>
              <a:rPr lang="en-US" sz="4200" spc="235">
                <a:solidFill>
                  <a:srgbClr val="022033"/>
                </a:solidFill>
                <a:latin typeface="Tenor Sans"/>
                <a:ea typeface="Tenor Sans"/>
              </a:rPr>
              <a:t>Circular N.° 0012-2022-BCRP, publicada por el Banco Central de Reserva del Perú en mayo de 2022</a:t>
            </a:r>
          </a:p>
        </p:txBody>
      </p:sp>
      <p:sp>
        <p:nvSpPr>
          <p:cNvPr name="TextBox 11" id="11"/>
          <p:cNvSpPr txBox="true"/>
          <p:nvPr/>
        </p:nvSpPr>
        <p:spPr>
          <a:xfrm rot="0">
            <a:off x="765431" y="322262"/>
            <a:ext cx="14864881" cy="1060704"/>
          </a:xfrm>
          <a:prstGeom prst="rect">
            <a:avLst/>
          </a:prstGeom>
        </p:spPr>
        <p:txBody>
          <a:bodyPr anchor="t" rtlCol="false" tIns="0" lIns="0" bIns="0" rIns="0">
            <a:spAutoFit/>
          </a:bodyPr>
          <a:lstStyle/>
          <a:p>
            <a:pPr algn="ctr">
              <a:lnSpc>
                <a:spcPts val="7728"/>
              </a:lnSpc>
            </a:pPr>
            <a:r>
              <a:rPr lang="en-US" sz="8400">
                <a:solidFill>
                  <a:srgbClr val="022033"/>
                </a:solidFill>
                <a:latin typeface="Glacial Indifference"/>
              </a:rPr>
              <a:t>PROBLEMA</a:t>
            </a:r>
          </a:p>
        </p:txBody>
      </p:sp>
      <p:sp>
        <p:nvSpPr>
          <p:cNvPr name="TextBox 12" id="12"/>
          <p:cNvSpPr txBox="true"/>
          <p:nvPr/>
        </p:nvSpPr>
        <p:spPr>
          <a:xfrm rot="0">
            <a:off x="3232996" y="2032431"/>
            <a:ext cx="11822008" cy="2950845"/>
          </a:xfrm>
          <a:prstGeom prst="rect">
            <a:avLst/>
          </a:prstGeom>
        </p:spPr>
        <p:txBody>
          <a:bodyPr anchor="t" rtlCol="false" tIns="0" lIns="0" bIns="0" rIns="0">
            <a:spAutoFit/>
          </a:bodyPr>
          <a:lstStyle/>
          <a:p>
            <a:pPr algn="just" marL="906780" indent="-453390" lvl="1">
              <a:lnSpc>
                <a:spcPts val="5880"/>
              </a:lnSpc>
              <a:buFont typeface="Arial"/>
              <a:buChar char="•"/>
            </a:pPr>
            <a:r>
              <a:rPr lang="en-US" sz="4200" spc="235">
                <a:solidFill>
                  <a:srgbClr val="022033"/>
                </a:solidFill>
                <a:latin typeface="Tenor Sans"/>
              </a:rPr>
              <a:t>Caja Tacna no ofrece el servicio de transferencia inmediata y aun continua con los servicios de transferencia tradicionales.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134706" y="5284201"/>
            <a:ext cx="4372659" cy="4878220"/>
          </a:xfrm>
          <a:custGeom>
            <a:avLst/>
            <a:gdLst/>
            <a:ahLst/>
            <a:cxnLst/>
            <a:rect r="r" b="b" t="t" l="l"/>
            <a:pathLst>
              <a:path h="4878220" w="4372659">
                <a:moveTo>
                  <a:pt x="0" y="0"/>
                </a:moveTo>
                <a:lnTo>
                  <a:pt x="4372659" y="0"/>
                </a:lnTo>
                <a:lnTo>
                  <a:pt x="4372659" y="4878220"/>
                </a:lnTo>
                <a:lnTo>
                  <a:pt x="0" y="48782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1209675"/>
            <a:ext cx="18307050" cy="8576397"/>
          </a:xfrm>
          <a:custGeom>
            <a:avLst/>
            <a:gdLst/>
            <a:ahLst/>
            <a:cxnLst/>
            <a:rect r="r" b="b" t="t" l="l"/>
            <a:pathLst>
              <a:path h="8576397" w="18307050">
                <a:moveTo>
                  <a:pt x="0" y="0"/>
                </a:moveTo>
                <a:lnTo>
                  <a:pt x="18307050" y="0"/>
                </a:lnTo>
                <a:lnTo>
                  <a:pt x="18307050" y="8576397"/>
                </a:lnTo>
                <a:lnTo>
                  <a:pt x="0" y="8576397"/>
                </a:lnTo>
                <a:lnTo>
                  <a:pt x="0" y="0"/>
                </a:lnTo>
                <a:close/>
              </a:path>
            </a:pathLst>
          </a:custGeom>
          <a:blipFill>
            <a:blip r:embed="rId4"/>
            <a:stretch>
              <a:fillRect l="0" t="0" r="0" b="0"/>
            </a:stretch>
          </a:blipFill>
        </p:spPr>
      </p:sp>
      <p:sp>
        <p:nvSpPr>
          <p:cNvPr name="TextBox 4" id="4"/>
          <p:cNvSpPr txBox="true"/>
          <p:nvPr/>
        </p:nvSpPr>
        <p:spPr>
          <a:xfrm rot="0">
            <a:off x="6026436" y="250190"/>
            <a:ext cx="6595021" cy="778510"/>
          </a:xfrm>
          <a:prstGeom prst="rect">
            <a:avLst/>
          </a:prstGeom>
        </p:spPr>
        <p:txBody>
          <a:bodyPr anchor="t" rtlCol="false" tIns="0" lIns="0" bIns="0" rIns="0">
            <a:spAutoFit/>
          </a:bodyPr>
          <a:lstStyle/>
          <a:p>
            <a:pPr algn="ctr">
              <a:lnSpc>
                <a:spcPts val="6439"/>
              </a:lnSpc>
            </a:pPr>
            <a:r>
              <a:rPr lang="en-US" sz="4599">
                <a:solidFill>
                  <a:srgbClr val="000000"/>
                </a:solidFill>
                <a:latin typeface="Open Sans Bold"/>
              </a:rPr>
              <a:t>Matriz de Consistencia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01280" y="0"/>
            <a:ext cx="15552091" cy="10811186"/>
          </a:xfrm>
          <a:custGeom>
            <a:avLst/>
            <a:gdLst/>
            <a:ahLst/>
            <a:cxnLst/>
            <a:rect r="r" b="b" t="t" l="l"/>
            <a:pathLst>
              <a:path h="10811186" w="15552091">
                <a:moveTo>
                  <a:pt x="0" y="0"/>
                </a:moveTo>
                <a:lnTo>
                  <a:pt x="15552090" y="0"/>
                </a:lnTo>
                <a:lnTo>
                  <a:pt x="15552090" y="10811186"/>
                </a:lnTo>
                <a:lnTo>
                  <a:pt x="0" y="10811186"/>
                </a:lnTo>
                <a:lnTo>
                  <a:pt x="0" y="0"/>
                </a:lnTo>
                <a:close/>
              </a:path>
            </a:pathLst>
          </a:custGeom>
          <a:blipFill>
            <a:blip r:embed="rId2"/>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1122224" y="-1023906"/>
            <a:ext cx="6167406" cy="6167406"/>
          </a:xfrm>
          <a:custGeom>
            <a:avLst/>
            <a:gdLst/>
            <a:ahLst/>
            <a:cxnLst/>
            <a:rect r="r" b="b" t="t" l="l"/>
            <a:pathLst>
              <a:path h="6167406" w="6167406">
                <a:moveTo>
                  <a:pt x="0" y="0"/>
                </a:moveTo>
                <a:lnTo>
                  <a:pt x="6167406" y="0"/>
                </a:lnTo>
                <a:lnTo>
                  <a:pt x="6167406" y="6167406"/>
                </a:lnTo>
                <a:lnTo>
                  <a:pt x="0" y="6167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8097499" y="1028700"/>
            <a:ext cx="5390350" cy="5390328"/>
            <a:chOff x="0" y="0"/>
            <a:chExt cx="6350000" cy="6349975"/>
          </a:xfrm>
        </p:grpSpPr>
        <p:sp>
          <p:nvSpPr>
            <p:cNvPr name="Freeform 4" id="4"/>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4"/>
              <a:stretch>
                <a:fillRect l="0" t="0" r="0" b="0"/>
              </a:stretch>
            </a:blipFill>
          </p:spPr>
        </p:sp>
      </p:grpSp>
      <p:grpSp>
        <p:nvGrpSpPr>
          <p:cNvPr name="Group 5" id="5"/>
          <p:cNvGrpSpPr/>
          <p:nvPr/>
        </p:nvGrpSpPr>
        <p:grpSpPr>
          <a:xfrm rot="0">
            <a:off x="1814440" y="5722071"/>
            <a:ext cx="5541925" cy="938466"/>
            <a:chOff x="0" y="0"/>
            <a:chExt cx="1459602" cy="247168"/>
          </a:xfrm>
        </p:grpSpPr>
        <p:sp>
          <p:nvSpPr>
            <p:cNvPr name="Freeform 6" id="6"/>
            <p:cNvSpPr/>
            <p:nvPr/>
          </p:nvSpPr>
          <p:spPr>
            <a:xfrm flipH="false" flipV="false" rot="0">
              <a:off x="0" y="0"/>
              <a:ext cx="1459602" cy="247168"/>
            </a:xfrm>
            <a:custGeom>
              <a:avLst/>
              <a:gdLst/>
              <a:ahLst/>
              <a:cxnLst/>
              <a:rect r="r" b="b" t="t" l="l"/>
              <a:pathLst>
                <a:path h="247168" w="1459602">
                  <a:moveTo>
                    <a:pt x="36321" y="0"/>
                  </a:moveTo>
                  <a:lnTo>
                    <a:pt x="1423280" y="0"/>
                  </a:lnTo>
                  <a:cubicBezTo>
                    <a:pt x="1443340" y="0"/>
                    <a:pt x="1459602" y="16262"/>
                    <a:pt x="1459602" y="36321"/>
                  </a:cubicBezTo>
                  <a:lnTo>
                    <a:pt x="1459602" y="210847"/>
                  </a:lnTo>
                  <a:cubicBezTo>
                    <a:pt x="1459602" y="220480"/>
                    <a:pt x="1455775" y="229718"/>
                    <a:pt x="1448963" y="236530"/>
                  </a:cubicBezTo>
                  <a:cubicBezTo>
                    <a:pt x="1442152" y="243341"/>
                    <a:pt x="1432913" y="247168"/>
                    <a:pt x="1423280" y="247168"/>
                  </a:cubicBezTo>
                  <a:lnTo>
                    <a:pt x="36321" y="247168"/>
                  </a:lnTo>
                  <a:cubicBezTo>
                    <a:pt x="26688" y="247168"/>
                    <a:pt x="17450" y="243341"/>
                    <a:pt x="10638" y="236530"/>
                  </a:cubicBezTo>
                  <a:cubicBezTo>
                    <a:pt x="3827" y="229718"/>
                    <a:pt x="0" y="220480"/>
                    <a:pt x="0" y="210847"/>
                  </a:cubicBezTo>
                  <a:lnTo>
                    <a:pt x="0" y="36321"/>
                  </a:lnTo>
                  <a:cubicBezTo>
                    <a:pt x="0" y="26688"/>
                    <a:pt x="3827" y="17450"/>
                    <a:pt x="10638" y="10638"/>
                  </a:cubicBezTo>
                  <a:cubicBezTo>
                    <a:pt x="17450" y="3827"/>
                    <a:pt x="26688" y="0"/>
                    <a:pt x="36321" y="0"/>
                  </a:cubicBezTo>
                  <a:close/>
                </a:path>
              </a:pathLst>
            </a:custGeom>
            <a:solidFill>
              <a:srgbClr val="F3E780"/>
            </a:solidFill>
          </p:spPr>
        </p:sp>
        <p:sp>
          <p:nvSpPr>
            <p:cNvPr name="TextBox 7" id="7"/>
            <p:cNvSpPr txBox="true"/>
            <p:nvPr/>
          </p:nvSpPr>
          <p:spPr>
            <a:xfrm>
              <a:off x="0" y="-38100"/>
              <a:ext cx="1459602" cy="285268"/>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5728559" y="1153041"/>
            <a:ext cx="1237134" cy="1200949"/>
            <a:chOff x="0" y="0"/>
            <a:chExt cx="325830" cy="316299"/>
          </a:xfrm>
        </p:grpSpPr>
        <p:sp>
          <p:nvSpPr>
            <p:cNvPr name="Freeform 9" id="9"/>
            <p:cNvSpPr/>
            <p:nvPr/>
          </p:nvSpPr>
          <p:spPr>
            <a:xfrm flipH="false" flipV="false" rot="0">
              <a:off x="0" y="0"/>
              <a:ext cx="325830" cy="316299"/>
            </a:xfrm>
            <a:custGeom>
              <a:avLst/>
              <a:gdLst/>
              <a:ahLst/>
              <a:cxnLst/>
              <a:rect r="r" b="b" t="t" l="l"/>
              <a:pathLst>
                <a:path h="316299" w="325830">
                  <a:moveTo>
                    <a:pt x="158150" y="0"/>
                  </a:moveTo>
                  <a:lnTo>
                    <a:pt x="167680" y="0"/>
                  </a:lnTo>
                  <a:cubicBezTo>
                    <a:pt x="255024" y="0"/>
                    <a:pt x="325830" y="70806"/>
                    <a:pt x="325830" y="158150"/>
                  </a:cubicBezTo>
                  <a:lnTo>
                    <a:pt x="325830" y="158150"/>
                  </a:lnTo>
                  <a:cubicBezTo>
                    <a:pt x="325830" y="245493"/>
                    <a:pt x="255024" y="316299"/>
                    <a:pt x="167680" y="316299"/>
                  </a:cubicBezTo>
                  <a:lnTo>
                    <a:pt x="158150" y="316299"/>
                  </a:lnTo>
                  <a:cubicBezTo>
                    <a:pt x="70806" y="316299"/>
                    <a:pt x="0" y="245493"/>
                    <a:pt x="0" y="158150"/>
                  </a:cubicBezTo>
                  <a:lnTo>
                    <a:pt x="0" y="158150"/>
                  </a:lnTo>
                  <a:cubicBezTo>
                    <a:pt x="0" y="70806"/>
                    <a:pt x="70806" y="0"/>
                    <a:pt x="158150" y="0"/>
                  </a:cubicBezTo>
                  <a:close/>
                </a:path>
              </a:pathLst>
            </a:custGeom>
            <a:solidFill>
              <a:srgbClr val="568AB9"/>
            </a:solidFill>
          </p:spPr>
        </p:sp>
        <p:sp>
          <p:nvSpPr>
            <p:cNvPr name="TextBox 10" id="10"/>
            <p:cNvSpPr txBox="true"/>
            <p:nvPr/>
          </p:nvSpPr>
          <p:spPr>
            <a:xfrm>
              <a:off x="0" y="-38100"/>
              <a:ext cx="325830" cy="354399"/>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089459" y="7570869"/>
            <a:ext cx="11718280" cy="1687431"/>
          </a:xfrm>
          <a:prstGeom prst="rect">
            <a:avLst/>
          </a:prstGeom>
        </p:spPr>
        <p:txBody>
          <a:bodyPr anchor="t" rtlCol="false" tIns="0" lIns="0" bIns="0" rIns="0">
            <a:spAutoFit/>
          </a:bodyPr>
          <a:lstStyle/>
          <a:p>
            <a:pPr algn="ctr">
              <a:lnSpc>
                <a:spcPts val="12360"/>
              </a:lnSpc>
            </a:pPr>
            <a:r>
              <a:rPr lang="en-US" sz="13435">
                <a:solidFill>
                  <a:srgbClr val="000000"/>
                </a:solidFill>
                <a:latin typeface="Glacial Indifference"/>
              </a:rPr>
              <a:t>ANTECEDENTES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877230"/>
            <a:ext cx="15859757" cy="7953099"/>
            <a:chOff x="0" y="0"/>
            <a:chExt cx="4081201" cy="2046576"/>
          </a:xfrm>
        </p:grpSpPr>
        <p:sp>
          <p:nvSpPr>
            <p:cNvPr name="Freeform 3" id="3"/>
            <p:cNvSpPr/>
            <p:nvPr/>
          </p:nvSpPr>
          <p:spPr>
            <a:xfrm flipH="false" flipV="false" rot="0">
              <a:off x="0" y="0"/>
              <a:ext cx="4081201" cy="2046576"/>
            </a:xfrm>
            <a:custGeom>
              <a:avLst/>
              <a:gdLst/>
              <a:ahLst/>
              <a:cxnLst/>
              <a:rect r="r" b="b" t="t" l="l"/>
              <a:pathLst>
                <a:path h="2046576" w="4081201">
                  <a:moveTo>
                    <a:pt x="17085" y="0"/>
                  </a:moveTo>
                  <a:lnTo>
                    <a:pt x="4064116" y="0"/>
                  </a:lnTo>
                  <a:cubicBezTo>
                    <a:pt x="4073552" y="0"/>
                    <a:pt x="4081201" y="7649"/>
                    <a:pt x="4081201" y="17085"/>
                  </a:cubicBezTo>
                  <a:lnTo>
                    <a:pt x="4081201" y="2029491"/>
                  </a:lnTo>
                  <a:cubicBezTo>
                    <a:pt x="4081201" y="2038927"/>
                    <a:pt x="4073552" y="2046576"/>
                    <a:pt x="4064116" y="2046576"/>
                  </a:cubicBezTo>
                  <a:lnTo>
                    <a:pt x="17085" y="2046576"/>
                  </a:lnTo>
                  <a:cubicBezTo>
                    <a:pt x="7649" y="2046576"/>
                    <a:pt x="0" y="2038927"/>
                    <a:pt x="0" y="2029491"/>
                  </a:cubicBezTo>
                  <a:lnTo>
                    <a:pt x="0" y="17085"/>
                  </a:lnTo>
                  <a:cubicBezTo>
                    <a:pt x="0" y="7649"/>
                    <a:pt x="7649" y="0"/>
                    <a:pt x="17085" y="0"/>
                  </a:cubicBezTo>
                  <a:close/>
                </a:path>
              </a:pathLst>
            </a:custGeom>
            <a:solidFill>
              <a:srgbClr val="BFD1E1"/>
            </a:solidFill>
          </p:spPr>
        </p:sp>
        <p:sp>
          <p:nvSpPr>
            <p:cNvPr name="TextBox 4" id="4"/>
            <p:cNvSpPr txBox="true"/>
            <p:nvPr/>
          </p:nvSpPr>
          <p:spPr>
            <a:xfrm>
              <a:off x="0" y="-38100"/>
              <a:ext cx="4081201" cy="2084676"/>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0" y="314325"/>
            <a:ext cx="9396097" cy="1451010"/>
          </a:xfrm>
          <a:prstGeom prst="rect">
            <a:avLst/>
          </a:prstGeom>
        </p:spPr>
        <p:txBody>
          <a:bodyPr anchor="t" rtlCol="false" tIns="0" lIns="0" bIns="0" rIns="0">
            <a:spAutoFit/>
          </a:bodyPr>
          <a:lstStyle/>
          <a:p>
            <a:pPr algn="ctr">
              <a:lnSpc>
                <a:spcPts val="10679"/>
              </a:lnSpc>
            </a:pPr>
            <a:r>
              <a:rPr lang="en-US" sz="11608" spc="-963">
                <a:solidFill>
                  <a:srgbClr val="022033"/>
                </a:solidFill>
                <a:latin typeface="Glacial Indifference"/>
              </a:rPr>
              <a:t>NACIONALES</a:t>
            </a:r>
          </a:p>
        </p:txBody>
      </p:sp>
      <p:sp>
        <p:nvSpPr>
          <p:cNvPr name="Freeform 6" id="6"/>
          <p:cNvSpPr/>
          <p:nvPr/>
        </p:nvSpPr>
        <p:spPr>
          <a:xfrm flipH="false" flipV="false" rot="0">
            <a:off x="13764581" y="150980"/>
            <a:ext cx="4372659" cy="4878220"/>
          </a:xfrm>
          <a:custGeom>
            <a:avLst/>
            <a:gdLst/>
            <a:ahLst/>
            <a:cxnLst/>
            <a:rect r="r" b="b" t="t" l="l"/>
            <a:pathLst>
              <a:path h="4878220" w="4372659">
                <a:moveTo>
                  <a:pt x="0" y="0"/>
                </a:moveTo>
                <a:lnTo>
                  <a:pt x="4372659" y="0"/>
                </a:lnTo>
                <a:lnTo>
                  <a:pt x="4372659" y="4878220"/>
                </a:lnTo>
                <a:lnTo>
                  <a:pt x="0" y="48782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363384" y="2235127"/>
            <a:ext cx="13598544" cy="7023173"/>
          </a:xfrm>
          <a:prstGeom prst="rect">
            <a:avLst/>
          </a:prstGeom>
        </p:spPr>
        <p:txBody>
          <a:bodyPr anchor="t" rtlCol="false" tIns="0" lIns="0" bIns="0" rIns="0">
            <a:spAutoFit/>
          </a:bodyPr>
          <a:lstStyle/>
          <a:p>
            <a:pPr algn="just">
              <a:lnSpc>
                <a:spcPts val="5595"/>
              </a:lnSpc>
            </a:pPr>
            <a:r>
              <a:rPr lang="en-US" sz="3997">
                <a:solidFill>
                  <a:srgbClr val="022033"/>
                </a:solidFill>
                <a:latin typeface="Open Sans Bold"/>
              </a:rPr>
              <a:t>Ing. Solansh López (2021)</a:t>
            </a:r>
            <a:r>
              <a:rPr lang="en-US" sz="3997">
                <a:solidFill>
                  <a:srgbClr val="022033"/>
                </a:solidFill>
                <a:latin typeface="Open Sans"/>
              </a:rPr>
              <a:t> presentó su tesis “</a:t>
            </a:r>
            <a:r>
              <a:rPr lang="en-US" sz="3997">
                <a:solidFill>
                  <a:srgbClr val="022033"/>
                </a:solidFill>
                <a:latin typeface="Open Sans Italics"/>
              </a:rPr>
              <a:t>Desarrollo de módulo en un aplicativo móvil para transferencias interbancarias de manera inmediata desde un número celular a otro número de celular de una entidad bancaria en Lima</a:t>
            </a:r>
            <a:r>
              <a:rPr lang="en-US" sz="3997">
                <a:solidFill>
                  <a:srgbClr val="022033"/>
                </a:solidFill>
                <a:latin typeface="Open Sans"/>
              </a:rPr>
              <a:t>” plantea el desarrollo e implementación de un módulo de transferencias interbancarias de manera inmediata mediante número de celulares de un aplicativo móvil, lo cual permitió minimizar los tiempos de espera en el envió, recepción y cobros de las transferencias interbancarias.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877230"/>
            <a:ext cx="15859757" cy="7953099"/>
            <a:chOff x="0" y="0"/>
            <a:chExt cx="4081201" cy="2046576"/>
          </a:xfrm>
        </p:grpSpPr>
        <p:sp>
          <p:nvSpPr>
            <p:cNvPr name="Freeform 3" id="3"/>
            <p:cNvSpPr/>
            <p:nvPr/>
          </p:nvSpPr>
          <p:spPr>
            <a:xfrm flipH="false" flipV="false" rot="0">
              <a:off x="0" y="0"/>
              <a:ext cx="4081201" cy="2046576"/>
            </a:xfrm>
            <a:custGeom>
              <a:avLst/>
              <a:gdLst/>
              <a:ahLst/>
              <a:cxnLst/>
              <a:rect r="r" b="b" t="t" l="l"/>
              <a:pathLst>
                <a:path h="2046576" w="4081201">
                  <a:moveTo>
                    <a:pt x="17085" y="0"/>
                  </a:moveTo>
                  <a:lnTo>
                    <a:pt x="4064116" y="0"/>
                  </a:lnTo>
                  <a:cubicBezTo>
                    <a:pt x="4073552" y="0"/>
                    <a:pt x="4081201" y="7649"/>
                    <a:pt x="4081201" y="17085"/>
                  </a:cubicBezTo>
                  <a:lnTo>
                    <a:pt x="4081201" y="2029491"/>
                  </a:lnTo>
                  <a:cubicBezTo>
                    <a:pt x="4081201" y="2038927"/>
                    <a:pt x="4073552" y="2046576"/>
                    <a:pt x="4064116" y="2046576"/>
                  </a:cubicBezTo>
                  <a:lnTo>
                    <a:pt x="17085" y="2046576"/>
                  </a:lnTo>
                  <a:cubicBezTo>
                    <a:pt x="7649" y="2046576"/>
                    <a:pt x="0" y="2038927"/>
                    <a:pt x="0" y="2029491"/>
                  </a:cubicBezTo>
                  <a:lnTo>
                    <a:pt x="0" y="17085"/>
                  </a:lnTo>
                  <a:cubicBezTo>
                    <a:pt x="0" y="7649"/>
                    <a:pt x="7649" y="0"/>
                    <a:pt x="17085" y="0"/>
                  </a:cubicBezTo>
                  <a:close/>
                </a:path>
              </a:pathLst>
            </a:custGeom>
            <a:solidFill>
              <a:srgbClr val="BFD1E1"/>
            </a:solidFill>
          </p:spPr>
        </p:sp>
        <p:sp>
          <p:nvSpPr>
            <p:cNvPr name="TextBox 4" id="4"/>
            <p:cNvSpPr txBox="true"/>
            <p:nvPr/>
          </p:nvSpPr>
          <p:spPr>
            <a:xfrm>
              <a:off x="0" y="-38100"/>
              <a:ext cx="4081201" cy="2084676"/>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0" y="314325"/>
            <a:ext cx="12275189" cy="1451010"/>
          </a:xfrm>
          <a:prstGeom prst="rect">
            <a:avLst/>
          </a:prstGeom>
        </p:spPr>
        <p:txBody>
          <a:bodyPr anchor="t" rtlCol="false" tIns="0" lIns="0" bIns="0" rIns="0">
            <a:spAutoFit/>
          </a:bodyPr>
          <a:lstStyle/>
          <a:p>
            <a:pPr algn="ctr">
              <a:lnSpc>
                <a:spcPts val="10679"/>
              </a:lnSpc>
            </a:pPr>
            <a:r>
              <a:rPr lang="en-US" sz="11608" spc="-963">
                <a:solidFill>
                  <a:srgbClr val="022033"/>
                </a:solidFill>
                <a:latin typeface="Glacial Indifference"/>
              </a:rPr>
              <a:t>INTERNACIONALES</a:t>
            </a:r>
          </a:p>
        </p:txBody>
      </p:sp>
      <p:sp>
        <p:nvSpPr>
          <p:cNvPr name="Freeform 6" id="6"/>
          <p:cNvSpPr/>
          <p:nvPr/>
        </p:nvSpPr>
        <p:spPr>
          <a:xfrm flipH="false" flipV="false" rot="0">
            <a:off x="13764581" y="150980"/>
            <a:ext cx="4372659" cy="4878220"/>
          </a:xfrm>
          <a:custGeom>
            <a:avLst/>
            <a:gdLst/>
            <a:ahLst/>
            <a:cxnLst/>
            <a:rect r="r" b="b" t="t" l="l"/>
            <a:pathLst>
              <a:path h="4878220" w="4372659">
                <a:moveTo>
                  <a:pt x="0" y="0"/>
                </a:moveTo>
                <a:lnTo>
                  <a:pt x="4372659" y="0"/>
                </a:lnTo>
                <a:lnTo>
                  <a:pt x="4372659" y="4878220"/>
                </a:lnTo>
                <a:lnTo>
                  <a:pt x="0" y="48782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363384" y="2254177"/>
            <a:ext cx="13598544" cy="7397823"/>
          </a:xfrm>
          <a:prstGeom prst="rect">
            <a:avLst/>
          </a:prstGeom>
        </p:spPr>
        <p:txBody>
          <a:bodyPr anchor="t" rtlCol="false" tIns="0" lIns="0" bIns="0" rIns="0">
            <a:spAutoFit/>
          </a:bodyPr>
          <a:lstStyle/>
          <a:p>
            <a:pPr algn="just">
              <a:lnSpc>
                <a:spcPts val="4895"/>
              </a:lnSpc>
            </a:pPr>
            <a:r>
              <a:rPr lang="en-US" sz="3497">
                <a:solidFill>
                  <a:srgbClr val="022033"/>
                </a:solidFill>
                <a:latin typeface="Open Sans Bold"/>
              </a:rPr>
              <a:t>Herma Fuquen (2023) </a:t>
            </a:r>
            <a:r>
              <a:rPr lang="en-US" sz="3497">
                <a:solidFill>
                  <a:srgbClr val="022033"/>
                </a:solidFill>
                <a:latin typeface="Open Sans"/>
              </a:rPr>
              <a:t>de Colombia en su artículo de investigación </a:t>
            </a:r>
            <a:r>
              <a:rPr lang="en-US" sz="3497">
                <a:solidFill>
                  <a:srgbClr val="022033"/>
                </a:solidFill>
                <a:latin typeface="Open Sans Italics"/>
              </a:rPr>
              <a:t>Desarrollo e implementación de tecnologías Informáticas para procesos de pago inmediato de bajo monto a través de transferencias electrónicas</a:t>
            </a:r>
            <a:r>
              <a:rPr lang="en-US" sz="3497">
                <a:solidFill>
                  <a:srgbClr val="022033"/>
                </a:solidFill>
                <a:latin typeface="Open Sans"/>
              </a:rPr>
              <a:t>. En el cual se diseña un servicio de transferencias inmediatas de bajos montos persona a persona sustentado en plataformas informáticas utilizando herramientas de mayor grado tecnológico disponible como son las blockchain para asegurar alta confiabilidad y seguridad. Para realizar las pruebas piloto se consolidaron 14 entidades financieras en Colombia hasta diciembre del 2021. Cerrando con más de 6.9 Millones de transacciones procesadas por más de 780 mil millones de dólares.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032084" y="2870519"/>
            <a:ext cx="14427288" cy="4697452"/>
          </a:xfrm>
          <a:prstGeom prst="rect">
            <a:avLst/>
          </a:prstGeom>
        </p:spPr>
        <p:txBody>
          <a:bodyPr anchor="t" rtlCol="false" tIns="0" lIns="0" bIns="0" rIns="0">
            <a:spAutoFit/>
          </a:bodyPr>
          <a:lstStyle/>
          <a:p>
            <a:pPr algn="ctr">
              <a:lnSpc>
                <a:spcPts val="17842"/>
              </a:lnSpc>
            </a:pPr>
            <a:r>
              <a:rPr lang="en-US" sz="19394">
                <a:solidFill>
                  <a:srgbClr val="022033"/>
                </a:solidFill>
                <a:latin typeface="Glacial Indifference"/>
              </a:rPr>
              <a:t>¡MUCHAS GRACIAS!</a:t>
            </a:r>
          </a:p>
        </p:txBody>
      </p:sp>
      <p:sp>
        <p:nvSpPr>
          <p:cNvPr name="Freeform 3" id="3"/>
          <p:cNvSpPr/>
          <p:nvPr/>
        </p:nvSpPr>
        <p:spPr>
          <a:xfrm flipH="false" flipV="false" rot="-10800000">
            <a:off x="-354670" y="-390474"/>
            <a:ext cx="4009030" cy="4009030"/>
          </a:xfrm>
          <a:custGeom>
            <a:avLst/>
            <a:gdLst/>
            <a:ahLst/>
            <a:cxnLst/>
            <a:rect r="r" b="b" t="t" l="l"/>
            <a:pathLst>
              <a:path h="4009030" w="4009030">
                <a:moveTo>
                  <a:pt x="0" y="0"/>
                </a:moveTo>
                <a:lnTo>
                  <a:pt x="4009029" y="0"/>
                </a:lnTo>
                <a:lnTo>
                  <a:pt x="4009029" y="4009030"/>
                </a:lnTo>
                <a:lnTo>
                  <a:pt x="0" y="40090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5386589" y="7759322"/>
            <a:ext cx="971055" cy="934870"/>
            <a:chOff x="0" y="0"/>
            <a:chExt cx="255751" cy="246221"/>
          </a:xfrm>
        </p:grpSpPr>
        <p:sp>
          <p:nvSpPr>
            <p:cNvPr name="Freeform 5" id="5"/>
            <p:cNvSpPr/>
            <p:nvPr/>
          </p:nvSpPr>
          <p:spPr>
            <a:xfrm flipH="false" flipV="false" rot="0">
              <a:off x="0" y="0"/>
              <a:ext cx="255751" cy="246221"/>
            </a:xfrm>
            <a:custGeom>
              <a:avLst/>
              <a:gdLst/>
              <a:ahLst/>
              <a:cxnLst/>
              <a:rect r="r" b="b" t="t" l="l"/>
              <a:pathLst>
                <a:path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p:spPr>
        </p:sp>
        <p:sp>
          <p:nvSpPr>
            <p:cNvPr name="TextBox 6" id="6"/>
            <p:cNvSpPr txBox="true"/>
            <p:nvPr/>
          </p:nvSpPr>
          <p:spPr>
            <a:xfrm>
              <a:off x="0" y="-38100"/>
              <a:ext cx="255751" cy="284321"/>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10800000">
            <a:off x="187905" y="5982697"/>
            <a:ext cx="3688357" cy="4114800"/>
          </a:xfrm>
          <a:custGeom>
            <a:avLst/>
            <a:gdLst/>
            <a:ahLst/>
            <a:cxnLst/>
            <a:rect r="r" b="b" t="t" l="l"/>
            <a:pathLst>
              <a:path h="4114800" w="3688357">
                <a:moveTo>
                  <a:pt x="0" y="0"/>
                </a:moveTo>
                <a:lnTo>
                  <a:pt x="3688357" y="0"/>
                </a:lnTo>
                <a:lnTo>
                  <a:pt x="368835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DAGHORzrmkc</dc:identifier>
  <dcterms:modified xsi:type="dcterms:W3CDTF">2011-08-01T06:04:30Z</dcterms:modified>
  <cp:revision>1</cp:revision>
  <dc:title>Presentación Proyecto Trabajo Creativa Profesional Azul</dc:title>
</cp:coreProperties>
</file>